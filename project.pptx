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42" y="10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7899F8-BD34-4D7F-81C3-9BB6F5D6BDF9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429A8-23A9-4360-9BD8-564F15589B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5171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429A8-23A9-4360-9BD8-564F15589BFC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55944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6A2A6-814D-457F-92B1-9DD8BFDBF580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A35D-7580-4DDD-8C3A-F41C2C081B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5720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6A2A6-814D-457F-92B1-9DD8BFDBF580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A35D-7580-4DDD-8C3A-F41C2C081B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7976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6A2A6-814D-457F-92B1-9DD8BFDBF580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A35D-7580-4DDD-8C3A-F41C2C081B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016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6A2A6-814D-457F-92B1-9DD8BFDBF580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A35D-7580-4DDD-8C3A-F41C2C081B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960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6A2A6-814D-457F-92B1-9DD8BFDBF580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A35D-7580-4DDD-8C3A-F41C2C081B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6902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6A2A6-814D-457F-92B1-9DD8BFDBF580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A35D-7580-4DDD-8C3A-F41C2C081B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40847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6A2A6-814D-457F-92B1-9DD8BFDBF580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A35D-7580-4DDD-8C3A-F41C2C081B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2937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6A2A6-814D-457F-92B1-9DD8BFDBF580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A35D-7580-4DDD-8C3A-F41C2C081B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42196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6A2A6-814D-457F-92B1-9DD8BFDBF580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A35D-7580-4DDD-8C3A-F41C2C081B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1253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6A2A6-814D-457F-92B1-9DD8BFDBF580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A35D-7580-4DDD-8C3A-F41C2C081B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80831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6A2A6-814D-457F-92B1-9DD8BFDBF580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A35D-7580-4DDD-8C3A-F41C2C081B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3252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6A2A6-814D-457F-92B1-9DD8BFDBF580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A35D-7580-4DDD-8C3A-F41C2C081BB7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3728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6A2A6-814D-457F-92B1-9DD8BFDBF580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A35D-7580-4DDD-8C3A-F41C2C081B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34124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6A2A6-814D-457F-92B1-9DD8BFDBF580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A35D-7580-4DDD-8C3A-F41C2C081B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5121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6A2A6-814D-457F-92B1-9DD8BFDBF580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A35D-7580-4DDD-8C3A-F41C2C081B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29316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6A2A6-814D-457F-92B1-9DD8BFDBF580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A35D-7580-4DDD-8C3A-F41C2C081B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20263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6A2A6-814D-457F-92B1-9DD8BFDBF580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A35D-7580-4DDD-8C3A-F41C2C081B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488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E96A2A6-814D-457F-92B1-9DD8BFDBF580}" type="datetimeFigureOut">
              <a:rPr lang="hu-HU" smtClean="0"/>
              <a:t>2025.11.21.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EA35D-7580-4DDD-8C3A-F41C2C081B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718201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.lib.pte.hu/index.php/kulturatudomanyi-szemle/article/download/6300/5996/10994" TargetMode="External"/><Relationship Id="rId2" Type="http://schemas.openxmlformats.org/officeDocument/2006/relationships/hyperlink" Target="https://journals.lib.pte.hu/index.php/kulturatudomanyi-szemle/article/download/5322/514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kpvk.pte.hu/sites/kpvk.pte.hu/files/Kornyezeti_neveles/pdf/8/8-2.pdf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E13B98-E3E5-462E-83CA-B10E4FBDE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0046"/>
            <a:ext cx="9144000" cy="1376039"/>
          </a:xfrm>
        </p:spPr>
        <p:txBody>
          <a:bodyPr/>
          <a:lstStyle/>
          <a:p>
            <a:r>
              <a:rPr lang="hu-HU" b="1" dirty="0"/>
              <a:t>2025.11.14. Projekt Munka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0554B95-2EEA-483F-9E4F-0C090A912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14012" y="6473964"/>
            <a:ext cx="2177988" cy="384036"/>
          </a:xfrm>
        </p:spPr>
        <p:txBody>
          <a:bodyPr>
            <a:normAutofit fontScale="85000" lnSpcReduction="10000"/>
          </a:bodyPr>
          <a:lstStyle/>
          <a:p>
            <a:r>
              <a:rPr lang="hu-HU" dirty="0" err="1"/>
              <a:t>By</a:t>
            </a:r>
            <a:r>
              <a:rPr lang="hu-HU" dirty="0"/>
              <a:t>: Balázs, Attila</a:t>
            </a:r>
          </a:p>
        </p:txBody>
      </p:sp>
    </p:spTree>
    <p:extLst>
      <p:ext uri="{BB962C8B-B14F-4D97-AF65-F5344CB8AC3E}">
        <p14:creationId xmlns:p14="http://schemas.microsoft.com/office/powerpoint/2010/main" val="1668547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F4A173-96F3-4D75-9B9F-3F2A745BB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06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hu-HU" sz="6000" b="1" dirty="0"/>
              <a:t>A Projektoktatás, Projektalapú munkavégzés történeti háttere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B2D6FD7-C277-4914-A8B7-522EC81C2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0063"/>
            <a:ext cx="10515600" cy="3960870"/>
          </a:xfrm>
        </p:spPr>
        <p:txBody>
          <a:bodyPr>
            <a:normAutofit fontScale="92500"/>
          </a:bodyPr>
          <a:lstStyle/>
          <a:p>
            <a:pPr marL="742950" indent="-742950">
              <a:buAutoNum type="arabicPeriod"/>
            </a:pPr>
            <a:r>
              <a:rPr lang="hu-HU" sz="3600" dirty="0"/>
              <a:t>Korai gyökerek és előzmények</a:t>
            </a:r>
          </a:p>
          <a:p>
            <a:pPr marL="742950" indent="-742950">
              <a:buAutoNum type="arabicPeriod"/>
            </a:pPr>
            <a:r>
              <a:rPr lang="hu-HU" sz="3600" dirty="0"/>
              <a:t>Dewey és a tapasztalati tanulás</a:t>
            </a:r>
          </a:p>
          <a:p>
            <a:pPr marL="742950" indent="-742950">
              <a:buAutoNum type="arabicPeriod"/>
            </a:pPr>
            <a:r>
              <a:rPr lang="hu-HU" sz="3600" dirty="0" err="1"/>
              <a:t>Kilpatrick</a:t>
            </a:r>
            <a:r>
              <a:rPr lang="hu-HU" sz="3600" dirty="0"/>
              <a:t> és a projektmódszer rendszerezése</a:t>
            </a:r>
          </a:p>
          <a:p>
            <a:pPr marL="742950" indent="-742950">
              <a:buAutoNum type="arabicPeriod"/>
            </a:pPr>
            <a:r>
              <a:rPr lang="hu-HU" sz="3600" dirty="0"/>
              <a:t>A konstruktivizmus és a modern projektpedagógia</a:t>
            </a:r>
          </a:p>
          <a:p>
            <a:pPr marL="742950" indent="-742950">
              <a:buAutoNum type="arabicPeriod"/>
            </a:pPr>
            <a:r>
              <a:rPr lang="hu-HU" sz="3600" dirty="0"/>
              <a:t>A 21. századi projektoktatás és STEAM</a:t>
            </a:r>
          </a:p>
        </p:txBody>
      </p:sp>
    </p:spTree>
    <p:extLst>
      <p:ext uri="{BB962C8B-B14F-4D97-AF65-F5344CB8AC3E}">
        <p14:creationId xmlns:p14="http://schemas.microsoft.com/office/powerpoint/2010/main" val="2700637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9465F4-B4BD-4ACE-983B-B12B2B4E2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72664"/>
            <a:ext cx="9404723" cy="1400530"/>
          </a:xfrm>
        </p:spPr>
        <p:txBody>
          <a:bodyPr/>
          <a:lstStyle/>
          <a:p>
            <a:r>
              <a:rPr lang="hu-HU" b="1" dirty="0"/>
              <a:t>A Projektoktatás kritériumai, Pedagógiai funkciói és Működési logikája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888921D-14AF-4451-A67F-028C9677B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hu-HU" sz="4000" dirty="0"/>
              <a:t>Hosszabb időtartamot ölel fel</a:t>
            </a:r>
          </a:p>
          <a:p>
            <a:r>
              <a:rPr lang="hu-HU" sz="4000" dirty="0"/>
              <a:t>Komplex tevékenységek sorozatából áll</a:t>
            </a:r>
          </a:p>
          <a:p>
            <a:r>
              <a:rPr lang="hu-HU" sz="4000" dirty="0"/>
              <a:t>Megvalósítható produktumot eredményez</a:t>
            </a:r>
          </a:p>
          <a:p>
            <a:r>
              <a:rPr lang="hu-HU" sz="4000" dirty="0"/>
              <a:t>Elősegíti a tanulói autonómiát</a:t>
            </a:r>
          </a:p>
          <a:p>
            <a:r>
              <a:rPr lang="hu-HU" sz="4000" dirty="0"/>
              <a:t>Támogatja a kooperatív tanulási folyamatokat</a:t>
            </a:r>
          </a:p>
          <a:p>
            <a:r>
              <a:rPr lang="hu-HU" sz="4000" dirty="0"/>
              <a:t>Reflexiót és többszintű értékelést tartalmaz</a:t>
            </a:r>
          </a:p>
        </p:txBody>
      </p:sp>
    </p:spTree>
    <p:extLst>
      <p:ext uri="{BB962C8B-B14F-4D97-AF65-F5344CB8AC3E}">
        <p14:creationId xmlns:p14="http://schemas.microsoft.com/office/powerpoint/2010/main" val="2081287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05CFF5-1230-43E4-B10A-0FFB3480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96044"/>
            <a:ext cx="9404723" cy="1400530"/>
          </a:xfrm>
        </p:spPr>
        <p:txBody>
          <a:bodyPr>
            <a:normAutofit fontScale="90000"/>
          </a:bodyPr>
          <a:lstStyle/>
          <a:p>
            <a:r>
              <a:rPr lang="hu-HU" sz="6000" b="1" dirty="0"/>
              <a:t>A Projektmódszer klasszikus lépései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0A01CB0-270F-4FF7-AF35-6F38746F4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742950" indent="-742950">
              <a:buAutoNum type="arabicPeriod"/>
            </a:pPr>
            <a:r>
              <a:rPr lang="hu-HU" sz="3200" dirty="0"/>
              <a:t>Problémafelvetés és témaazonosítás</a:t>
            </a:r>
          </a:p>
          <a:p>
            <a:pPr marL="742950" indent="-742950">
              <a:buAutoNum type="arabicPeriod"/>
            </a:pPr>
            <a:r>
              <a:rPr lang="hu-HU" sz="3200" dirty="0"/>
              <a:t>Célmeghatározás és követelményrendszer kialakítása</a:t>
            </a:r>
          </a:p>
          <a:p>
            <a:pPr marL="742950" indent="-742950">
              <a:buAutoNum type="arabicPeriod"/>
            </a:pPr>
            <a:r>
              <a:rPr lang="hu-HU" sz="3200" dirty="0"/>
              <a:t>Tervezés, munkaszervezés és szerepelosztás</a:t>
            </a:r>
          </a:p>
          <a:p>
            <a:pPr marL="742950" indent="-742950">
              <a:buAutoNum type="arabicPeriod"/>
            </a:pPr>
            <a:r>
              <a:rPr lang="hu-HU" sz="3200" dirty="0"/>
              <a:t>Információgyűjtés, kutatás és terepmunka</a:t>
            </a:r>
          </a:p>
          <a:p>
            <a:pPr marL="742950" indent="-742950">
              <a:buAutoNum type="arabicPeriod"/>
            </a:pPr>
            <a:r>
              <a:rPr lang="hu-HU" sz="3200" dirty="0"/>
              <a:t>Kreatív vagy kutatási produktum létrehozása,</a:t>
            </a:r>
          </a:p>
          <a:p>
            <a:pPr marL="742950" indent="-742950">
              <a:buAutoNum type="arabicPeriod"/>
            </a:pPr>
            <a:r>
              <a:rPr lang="hu-HU" sz="3200" dirty="0"/>
              <a:t>Prezentáció és nyilvános bemutatás</a:t>
            </a:r>
          </a:p>
          <a:p>
            <a:pPr marL="742950" indent="-742950">
              <a:buAutoNum type="arabicPeriod"/>
            </a:pPr>
            <a:r>
              <a:rPr lang="hu-HU" sz="3200" dirty="0"/>
              <a:t>Értékelés, önreflexió és portfóliókészítés</a:t>
            </a:r>
          </a:p>
        </p:txBody>
      </p:sp>
    </p:spTree>
    <p:extLst>
      <p:ext uri="{BB962C8B-B14F-4D97-AF65-F5344CB8AC3E}">
        <p14:creationId xmlns:p14="http://schemas.microsoft.com/office/powerpoint/2010/main" val="14761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80633C-D1B2-4BDB-BA31-7803586FA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6000" b="1" dirty="0"/>
              <a:t>A Projekt fő szakaszai	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2D66CC4-2168-476D-AD8D-5282F4E65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4000" dirty="0"/>
              <a:t>Előkészítés</a:t>
            </a:r>
          </a:p>
          <a:p>
            <a:r>
              <a:rPr lang="hu-HU" sz="4000" dirty="0"/>
              <a:t>Tervezés</a:t>
            </a:r>
          </a:p>
          <a:p>
            <a:r>
              <a:rPr lang="hu-HU" sz="4000" dirty="0"/>
              <a:t>Megvalósítás</a:t>
            </a:r>
          </a:p>
          <a:p>
            <a:r>
              <a:rPr lang="hu-HU" sz="4000" dirty="0"/>
              <a:t>Bemutatás</a:t>
            </a:r>
          </a:p>
          <a:p>
            <a:r>
              <a:rPr lang="hu-HU" sz="4000" dirty="0"/>
              <a:t>Értékelés</a:t>
            </a:r>
          </a:p>
        </p:txBody>
      </p:sp>
    </p:spTree>
    <p:extLst>
      <p:ext uri="{BB962C8B-B14F-4D97-AF65-F5344CB8AC3E}">
        <p14:creationId xmlns:p14="http://schemas.microsoft.com/office/powerpoint/2010/main" val="3937231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E775D2-F269-48F7-9D5A-4121FCE97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60213"/>
            <a:ext cx="9404723" cy="1400530"/>
          </a:xfrm>
        </p:spPr>
        <p:txBody>
          <a:bodyPr>
            <a:normAutofit fontScale="90000"/>
          </a:bodyPr>
          <a:lstStyle/>
          <a:p>
            <a:r>
              <a:rPr lang="hu-HU" sz="6000" b="1" dirty="0"/>
              <a:t>A Projektoktatás eszközrendszere	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B1E45D6-1C75-452E-8A6E-D5FE833DE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229381"/>
            <a:ext cx="8946541" cy="4195481"/>
          </a:xfrm>
        </p:spPr>
        <p:txBody>
          <a:bodyPr>
            <a:normAutofit/>
          </a:bodyPr>
          <a:lstStyle/>
          <a:p>
            <a:r>
              <a:rPr lang="hu-HU" sz="4000" dirty="0"/>
              <a:t>Személyi eszközök</a:t>
            </a:r>
          </a:p>
          <a:p>
            <a:r>
              <a:rPr lang="hu-HU" sz="4000" dirty="0"/>
              <a:t>Technikai eszközök</a:t>
            </a:r>
          </a:p>
          <a:p>
            <a:r>
              <a:rPr lang="hu-HU" sz="4000" dirty="0"/>
              <a:t>Módszertani eszközök</a:t>
            </a:r>
          </a:p>
          <a:p>
            <a:r>
              <a:rPr lang="hu-HU" sz="4000" dirty="0"/>
              <a:t>Értékelési eszközök</a:t>
            </a:r>
          </a:p>
        </p:txBody>
      </p:sp>
    </p:spTree>
    <p:extLst>
      <p:ext uri="{BB962C8B-B14F-4D97-AF65-F5344CB8AC3E}">
        <p14:creationId xmlns:p14="http://schemas.microsoft.com/office/powerpoint/2010/main" val="3167593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704F6DE-F655-474C-9F6F-9E4FB12B6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6000" b="1" dirty="0"/>
              <a:t>Források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D7D608E-9439-4EA4-9172-E3BFFEA44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sz="2600" dirty="0"/>
              <a:t>Fóti, N., </a:t>
            </a:r>
            <a:r>
              <a:rPr lang="hu-HU" sz="2600" dirty="0" err="1"/>
              <a:t>Schnell</a:t>
            </a:r>
            <a:r>
              <a:rPr lang="hu-HU" sz="2600" dirty="0"/>
              <a:t>, </a:t>
            </a:r>
            <a:r>
              <a:rPr lang="hu-HU" sz="2600" dirty="0" err="1"/>
              <a:t>Zs</a:t>
            </a:r>
            <a:r>
              <a:rPr lang="hu-HU" sz="2600" dirty="0"/>
              <a:t>., &amp; Kochné Süli, A. (2023).</a:t>
            </a:r>
            <a:br>
              <a:rPr lang="hu-HU" sz="2600" dirty="0"/>
            </a:br>
            <a:r>
              <a:rPr lang="hu-HU" sz="2600" dirty="0">
                <a:hlinkClick r:id="rId2"/>
              </a:rPr>
              <a:t>https://journals.lib.pte.hu/index.php/kulturatudomanyi-szemle/article/download/5322/5143</a:t>
            </a:r>
            <a:endParaRPr lang="hu-HU" sz="2600" dirty="0"/>
          </a:p>
          <a:p>
            <a:r>
              <a:rPr lang="pl-PL" sz="2600" dirty="0" err="1"/>
              <a:t>Süli</a:t>
            </a:r>
            <a:r>
              <a:rPr lang="pl-PL" sz="2600" dirty="0"/>
              <a:t>, A., &amp; </a:t>
            </a:r>
            <a:r>
              <a:rPr lang="pl-PL" sz="2600" dirty="0" err="1"/>
              <a:t>Fóti</a:t>
            </a:r>
            <a:r>
              <a:rPr lang="pl-PL" sz="2600" dirty="0"/>
              <a:t>, N. (2022). </a:t>
            </a:r>
            <a:r>
              <a:rPr lang="pl-PL" sz="2600" dirty="0" err="1"/>
              <a:t>Projektpedagógia</a:t>
            </a:r>
            <a:r>
              <a:rPr lang="pl-PL" sz="2600" dirty="0"/>
              <a:t> a </a:t>
            </a:r>
            <a:r>
              <a:rPr lang="pl-PL" sz="2600" dirty="0" err="1"/>
              <a:t>gyakorlatban</a:t>
            </a:r>
            <a:br>
              <a:rPr lang="pl-PL" sz="2600" dirty="0"/>
            </a:br>
            <a:r>
              <a:rPr lang="pl-PL" sz="2600" dirty="0">
                <a:hlinkClick r:id="rId3"/>
              </a:rPr>
              <a:t>https://journals.lib.pte.hu/index.php/kulturatudomanyi-szemle/article/download/6300/5996/10994</a:t>
            </a:r>
            <a:endParaRPr lang="pl-PL" sz="2600" dirty="0"/>
          </a:p>
          <a:p>
            <a:r>
              <a:rPr lang="pl-PL" sz="2600" dirty="0"/>
              <a:t>PTE KPVK. (</a:t>
            </a:r>
            <a:r>
              <a:rPr lang="pl-PL" sz="2600" dirty="0" err="1"/>
              <a:t>n.d</a:t>
            </a:r>
            <a:r>
              <a:rPr lang="pl-PL" sz="2600" dirty="0"/>
              <a:t>.). A projekt </a:t>
            </a:r>
            <a:r>
              <a:rPr lang="pl-PL" sz="2600" dirty="0" err="1"/>
              <a:t>fogalma</a:t>
            </a:r>
            <a:r>
              <a:rPr lang="pl-PL" sz="2600" dirty="0"/>
              <a:t>, </a:t>
            </a:r>
            <a:r>
              <a:rPr lang="pl-PL" sz="2600" dirty="0" err="1"/>
              <a:t>története</a:t>
            </a:r>
            <a:r>
              <a:rPr lang="pl-PL" sz="2600" dirty="0"/>
              <a:t> </a:t>
            </a:r>
            <a:r>
              <a:rPr lang="pl-PL" sz="2600" dirty="0" err="1"/>
              <a:t>és</a:t>
            </a:r>
            <a:r>
              <a:rPr lang="pl-PL" sz="2600" dirty="0"/>
              <a:t> </a:t>
            </a:r>
            <a:r>
              <a:rPr lang="pl-PL" sz="2600" dirty="0" err="1"/>
              <a:t>módszerei</a:t>
            </a:r>
            <a:r>
              <a:rPr lang="pl-PL" sz="2600" dirty="0"/>
              <a:t>.</a:t>
            </a:r>
            <a:br>
              <a:rPr lang="pl-PL" sz="2600" dirty="0"/>
            </a:br>
            <a:r>
              <a:rPr lang="pl-PL" sz="2600" dirty="0">
                <a:hlinkClick r:id="rId4"/>
              </a:rPr>
              <a:t>https://kpvk.pte.hu/sites/kpvk.pte.hu/files/Kornyezeti_neveles/pdf/8/8-2.pdf</a:t>
            </a:r>
            <a:endParaRPr lang="pl-PL" sz="2600" dirty="0"/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63836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B1BE54-5FF6-480F-996A-048FB41B5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6000" b="1" dirty="0"/>
              <a:t>Köszönjük a Figyelmet!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4AFDBD-B94C-43FC-B00A-2D180C23D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1420" y="6357520"/>
            <a:ext cx="9027695" cy="500480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A teremben hagyott magántulajdont megtartjuk vagy eladjuk</a:t>
            </a:r>
          </a:p>
        </p:txBody>
      </p:sp>
    </p:spTree>
    <p:extLst>
      <p:ext uri="{BB962C8B-B14F-4D97-AF65-F5344CB8AC3E}">
        <p14:creationId xmlns:p14="http://schemas.microsoft.com/office/powerpoint/2010/main" val="32204613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268</Words>
  <Application>Microsoft Office PowerPoint</Application>
  <PresentationFormat>Szélesvásznú</PresentationFormat>
  <Paragraphs>41</Paragraphs>
  <Slides>8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Ion</vt:lpstr>
      <vt:lpstr>2025.11.14. Projekt Munka</vt:lpstr>
      <vt:lpstr>A Projektoktatás, Projektalapú munkavégzés történeti háttere</vt:lpstr>
      <vt:lpstr>A Projektoktatás kritériumai, Pedagógiai funkciói és Működési logikája</vt:lpstr>
      <vt:lpstr>A Projektmódszer klasszikus lépései</vt:lpstr>
      <vt:lpstr>A Projekt fő szakaszai </vt:lpstr>
      <vt:lpstr>A Projektoktatás eszközrendszere </vt:lpstr>
      <vt:lpstr>Források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2025.11.14. Projekt Munka</dc:title>
  <dc:creator>Lepsényi Attila</dc:creator>
  <cp:lastModifiedBy>Lepsényi Attila</cp:lastModifiedBy>
  <cp:revision>8</cp:revision>
  <dcterms:created xsi:type="dcterms:W3CDTF">2025-11-17T09:22:25Z</dcterms:created>
  <dcterms:modified xsi:type="dcterms:W3CDTF">2025-11-21T08:42:55Z</dcterms:modified>
</cp:coreProperties>
</file>